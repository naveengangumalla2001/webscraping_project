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1" r:id="rId3"/>
    <p:sldId id="262" r:id="rId4"/>
    <p:sldId id="260" r:id="rId5"/>
    <p:sldId id="275" r:id="rId6"/>
    <p:sldId id="276" r:id="rId7"/>
    <p:sldId id="277" r:id="rId8"/>
    <p:sldId id="263" r:id="rId9"/>
    <p:sldId id="278" r:id="rId10"/>
    <p:sldId id="264" r:id="rId11"/>
    <p:sldId id="279" r:id="rId12"/>
    <p:sldId id="265" r:id="rId13"/>
    <p:sldId id="266" r:id="rId14"/>
    <p:sldId id="271" r:id="rId15"/>
    <p:sldId id="267" r:id="rId16"/>
    <p:sldId id="268" r:id="rId17"/>
    <p:sldId id="269" r:id="rId18"/>
    <p:sldId id="270" r:id="rId19"/>
    <p:sldId id="272" r:id="rId20"/>
    <p:sldId id="259" r:id="rId21"/>
  </p:sldIdLst>
  <p:sldSz cx="12192000" cy="6858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Inter" panose="020B0604020202020204" charset="0"/>
      <p:regular r:id="rId24"/>
      <p:bold r:id="rId25"/>
    </p:embeddedFont>
    <p:embeddedFont>
      <p:font typeface="Inter Black" panose="020B0604020202020204" charset="0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8B962992-3BA9-4E21-8421-C01873FC0AE7}">
          <p14:sldIdLst>
            <p14:sldId id="256"/>
            <p14:sldId id="261"/>
            <p14:sldId id="262"/>
            <p14:sldId id="260"/>
            <p14:sldId id="275"/>
            <p14:sldId id="276"/>
            <p14:sldId id="277"/>
            <p14:sldId id="263"/>
            <p14:sldId id="278"/>
            <p14:sldId id="264"/>
            <p14:sldId id="279"/>
            <p14:sldId id="265"/>
            <p14:sldId id="266"/>
            <p14:sldId id="271"/>
            <p14:sldId id="267"/>
            <p14:sldId id="268"/>
            <p14:sldId id="269"/>
            <p14:sldId id="270"/>
            <p14:sldId id="272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3048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70476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en-GB" sz="4000" b="1" dirty="0">
                <a:solidFill>
                  <a:schemeClr val="tx1"/>
                </a:solidFill>
                <a:latin typeface="Times New Roman" panose="02020603050405020304" charset="0"/>
                <a:ea typeface="Philosopher" panose="00000500000000000000" charset="0"/>
                <a:cs typeface="Times New Roman" panose="02020603050405020304" charset="0"/>
                <a:sym typeface="Philosopher" panose="00000500000000000000" charset="0"/>
              </a:rPr>
              <a:t>Mobile Phones Price and Ratings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72F95-0548-E4F6-27F5-7C8B4C8FE3EA}"/>
              </a:ext>
            </a:extLst>
          </p:cNvPr>
          <p:cNvSpPr txBox="1"/>
          <p:nvPr/>
        </p:nvSpPr>
        <p:spPr>
          <a:xfrm>
            <a:off x="503854" y="5328983"/>
            <a:ext cx="34336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rgbClr val="C00000"/>
                </a:solidFill>
                <a:latin typeface="Arial Black" panose="020B0A04020102020204" pitchFamily="34" charset="0"/>
              </a:rPr>
              <a:t>Team</a:t>
            </a:r>
          </a:p>
          <a:p>
            <a:r>
              <a:rPr lang="en-IN" dirty="0"/>
              <a:t>Dasari Chandu</a:t>
            </a:r>
          </a:p>
          <a:p>
            <a:r>
              <a:rPr lang="en-IN" dirty="0"/>
              <a:t>Shaik Mohammad Kaif</a:t>
            </a:r>
          </a:p>
          <a:p>
            <a:r>
              <a:rPr lang="en-IN" dirty="0"/>
              <a:t>P. Sanath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8F38-F65F-6758-A635-800E51E8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ABSTRACT</a:t>
            </a:r>
            <a:endParaRPr lang="en-IN" sz="48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54484-128F-B484-4B43-9D7C03809C08}"/>
              </a:ext>
            </a:extLst>
          </p:cNvPr>
          <p:cNvSpPr txBox="1"/>
          <p:nvPr/>
        </p:nvSpPr>
        <p:spPr>
          <a:xfrm>
            <a:off x="838200" y="1659285"/>
            <a:ext cx="1065711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• This project analyzes smartphone prices and customer ratings using data collected from an e-commerce platform through web scraping.</a:t>
            </a:r>
          </a:p>
          <a:p>
            <a:endParaRPr lang="en-US" sz="1600" dirty="0"/>
          </a:p>
          <a:p>
            <a:r>
              <a:rPr lang="en-US" sz="1600" dirty="0"/>
              <a:t>• The dataset includes important attributes such as Product Name, Brand, Price, Rating, RAM, Storage, Screen Size, Original Price, and Discount.</a:t>
            </a:r>
          </a:p>
          <a:p>
            <a:endParaRPr lang="en-US" sz="1600" dirty="0"/>
          </a:p>
          <a:p>
            <a:r>
              <a:rPr lang="en-US" sz="1600" dirty="0"/>
              <a:t>• Data cleaning and preprocessing were performed to handle missing values, convert data types, and structure the dataset for analysis.</a:t>
            </a:r>
          </a:p>
          <a:p>
            <a:endParaRPr lang="en-US" sz="1600" dirty="0"/>
          </a:p>
          <a:p>
            <a:r>
              <a:rPr lang="en-US" sz="1600" dirty="0"/>
              <a:t>• Exploratory Data Analysis (EDA) techniques were applied to study the distribution of Price and Rating and identify patterns in smartphone specifications.</a:t>
            </a:r>
          </a:p>
          <a:p>
            <a:endParaRPr lang="en-US" sz="1600" dirty="0"/>
          </a:p>
          <a:p>
            <a:r>
              <a:rPr lang="en-US" sz="1600" dirty="0"/>
              <a:t>• The analysis helps understand how factors like Brand, RAM, Storage, and Screen Size influence smartphone pricing and market trends.</a:t>
            </a:r>
          </a:p>
          <a:p>
            <a:endParaRPr lang="en-US" sz="1600" dirty="0"/>
          </a:p>
          <a:p>
            <a:r>
              <a:rPr lang="en-US" sz="1600" dirty="0"/>
              <a:t>• The insights generated support data-driven decision making in the competitive smartphone market.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7187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4BF8C-9777-A1F6-9103-CE4394998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94681-1AAE-6DA0-1534-5AE5DAA10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6170"/>
            <a:ext cx="9144000" cy="511629"/>
          </a:xfrm>
        </p:spPr>
        <p:txBody>
          <a:bodyPr>
            <a:normAutofit lnSpcReduction="1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6E372-4CA7-5848-3610-F765297D8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41" y="923731"/>
            <a:ext cx="10133045" cy="5159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6C6B2D-1C90-B329-7E11-F7C5145F5BE6}"/>
              </a:ext>
            </a:extLst>
          </p:cNvPr>
          <p:cNvSpPr txBox="1"/>
          <p:nvPr/>
        </p:nvSpPr>
        <p:spPr>
          <a:xfrm>
            <a:off x="774441" y="301195"/>
            <a:ext cx="4161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DATA FRAME</a:t>
            </a:r>
          </a:p>
        </p:txBody>
      </p:sp>
    </p:spTree>
    <p:extLst>
      <p:ext uri="{BB962C8B-B14F-4D97-AF65-F5344CB8AC3E}">
        <p14:creationId xmlns:p14="http://schemas.microsoft.com/office/powerpoint/2010/main" val="88968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1B1-29E9-CE13-4F37-B81AE11E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9941C-A96B-13A8-B7D9-61B888FC0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3" y="1122363"/>
            <a:ext cx="10217020" cy="4845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3AD2F2-37A5-A89B-4281-A854E9977795}"/>
              </a:ext>
            </a:extLst>
          </p:cNvPr>
          <p:cNvSpPr txBox="1"/>
          <p:nvPr/>
        </p:nvSpPr>
        <p:spPr>
          <a:xfrm>
            <a:off x="662474" y="367075"/>
            <a:ext cx="5038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DESCRIPTIVE STATISTICES</a:t>
            </a:r>
          </a:p>
        </p:txBody>
      </p:sp>
    </p:spTree>
    <p:extLst>
      <p:ext uri="{BB962C8B-B14F-4D97-AF65-F5344CB8AC3E}">
        <p14:creationId xmlns:p14="http://schemas.microsoft.com/office/powerpoint/2010/main" val="342756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B9A5F9-6B00-64A4-2BD8-370941AEB61E}"/>
              </a:ext>
            </a:extLst>
          </p:cNvPr>
          <p:cNvSpPr txBox="1"/>
          <p:nvPr/>
        </p:nvSpPr>
        <p:spPr>
          <a:xfrm>
            <a:off x="541176" y="468670"/>
            <a:ext cx="9815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WEB SCRAPING – DETAILS (Websites, Process Followed)</a:t>
            </a:r>
            <a:endParaRPr lang="en-US" altLang="en-GB" sz="2800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3CEFB-44C0-F75A-BA74-A58A9E748AC1}"/>
              </a:ext>
            </a:extLst>
          </p:cNvPr>
          <p:cNvSpPr txBox="1"/>
          <p:nvPr/>
        </p:nvSpPr>
        <p:spPr>
          <a:xfrm>
            <a:off x="541176" y="1110341"/>
            <a:ext cx="1008639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q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was collected from an online e-commerce platform using automated web scraping techniques.</a:t>
            </a:r>
            <a:endParaRPr lang="en-US" altLang="en-GB" sz="2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q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Python libraries such as requests and </a:t>
            </a:r>
            <a:r>
              <a:rPr lang="en-US" altLang="en-GB" sz="20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BeautifulSoup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were used to access and parse webpage content.</a:t>
            </a:r>
            <a:endParaRPr lang="en-US" altLang="en-GB" sz="2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q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scraper extracted important product information like product name, price, rating, features, and discount.</a:t>
            </a:r>
            <a:endParaRPr lang="en-US" altLang="en-GB" sz="2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q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was collected from approximately 105 pages of smartphone listings.</a:t>
            </a:r>
            <a:endParaRPr lang="en-US" altLang="en-GB" sz="2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q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Each page was processed sequentially and relevant product attributes were stored in lists.</a:t>
            </a:r>
            <a:endParaRPr lang="en-US" altLang="en-GB" sz="2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q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collected data was finally converted into a structured Pandas </a:t>
            </a:r>
            <a:r>
              <a:rPr lang="en-US" altLang="en-GB" sz="20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DataFrame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for further analysis.</a:t>
            </a:r>
            <a:endParaRPr lang="en-US" altLang="en-GB" sz="2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20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61396-8A7D-BE98-3206-622F3DC3A38B}"/>
              </a:ext>
            </a:extLst>
          </p:cNvPr>
          <p:cNvSpPr txBox="1"/>
          <p:nvPr/>
        </p:nvSpPr>
        <p:spPr>
          <a:xfrm>
            <a:off x="919064" y="559837"/>
            <a:ext cx="4861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CLEANING STEPS</a:t>
            </a:r>
            <a:endParaRPr lang="en-US" altLang="en-GB" sz="2800" b="1" dirty="0">
              <a:solidFill>
                <a:srgbClr val="C00000"/>
              </a:solidFill>
              <a:latin typeface="Times New Roman" panose="02020603050405020304" charset="0"/>
              <a:ea typeface="Inter" panose="020005030000000200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68387-B68E-C8A8-A89C-1B266DFA3B7A}"/>
              </a:ext>
            </a:extLst>
          </p:cNvPr>
          <p:cNvSpPr txBox="1"/>
          <p:nvPr/>
        </p:nvSpPr>
        <p:spPr>
          <a:xfrm>
            <a:off x="923730" y="1410660"/>
            <a:ext cx="9713167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Identified and handled missing values present in columns such as price, rating, and discount.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Converted text-based columns like price and discount into numeric format for analysis.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Removed unnecessary columns and inconsistent records from the dataset.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Standardized brand names to maintain consistency across the dataset.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Filled missing values using statistical techniques such as mean, median, and mode.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Verified that the final dataset contained no null values before performing analysis.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44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7D934D-D57F-BCE3-D4D8-C36E628AC0F4}"/>
              </a:ext>
            </a:extLst>
          </p:cNvPr>
          <p:cNvSpPr txBox="1"/>
          <p:nvPr/>
        </p:nvSpPr>
        <p:spPr>
          <a:xfrm>
            <a:off x="867747" y="363894"/>
            <a:ext cx="55517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MANIPULATION STEPS</a:t>
            </a:r>
            <a:endParaRPr lang="en-US" altLang="en-GB" sz="2800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CBB40-273D-C883-6ACB-1949DB740634}"/>
              </a:ext>
            </a:extLst>
          </p:cNvPr>
          <p:cNvSpPr txBox="1"/>
          <p:nvPr/>
        </p:nvSpPr>
        <p:spPr>
          <a:xfrm>
            <a:off x="867747" y="1259632"/>
            <a:ext cx="101517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Extracted important attributes like brand, model, color, RAM, and storage using regular expressions.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Created new columns from the existing product name and feature descriptions.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Converted screen size values from text format to numeric format for analysis.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Cleaned textual data by removing unnecessary characters and formatting issues.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Organized the dataset into structured columns suitable for data visualization.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Performed type conversions to ensure numerical operations could be applied.</a:t>
            </a:r>
            <a:endParaRPr lang="en-US" altLang="en-GB" sz="2000" dirty="0">
              <a:solidFill>
                <a:schemeClr val="bg1">
                  <a:lumMod val="95000"/>
                </a:schemeClr>
              </a:solidFill>
              <a:latin typeface="Times New Roman" panose="02020603050405020304" charset="0"/>
              <a:ea typeface="Inter" panose="02000503000000020004" charset="0"/>
              <a:cs typeface="Times New Roman" panose="02020603050405020304" charset="0"/>
              <a:sym typeface="+mn-e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29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0A2E-F882-B53F-E1B8-5FDA3218F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7618" y="-74645"/>
            <a:ext cx="5256764" cy="99853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UNIVARIATE ANALYSIS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97B47-2D15-402D-DDFC-99527E76C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 flipV="1">
            <a:off x="12146280" y="6858000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B4F579-D03C-EFE7-9757-3FF94D864FEE}"/>
              </a:ext>
            </a:extLst>
          </p:cNvPr>
          <p:cNvSpPr txBox="1"/>
          <p:nvPr/>
        </p:nvSpPr>
        <p:spPr>
          <a:xfrm>
            <a:off x="867747" y="1259632"/>
            <a:ext cx="889207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 dirty="0">
                <a:sym typeface="+mn-ea"/>
              </a:rPr>
              <a:t>Univariate analysis was performed to understand the distribution of individual variables.</a:t>
            </a:r>
            <a:endParaRPr lang="en-US" altLang="en-GB" sz="1800" dirty="0"/>
          </a:p>
          <a:p>
            <a:endParaRPr lang="en-US" alt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 dirty="0">
                <a:sym typeface="+mn-ea"/>
              </a:rPr>
              <a:t>Price distribution was analyzed to identify common price ranges of smartphones.</a:t>
            </a:r>
            <a:endParaRPr lang="en-US" altLang="en-GB" sz="1800" dirty="0"/>
          </a:p>
          <a:p>
            <a:endParaRPr lang="en-US" alt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 dirty="0">
                <a:sym typeface="+mn-ea"/>
              </a:rPr>
              <a:t>Rating distribution was examined to understand overall customer satisfaction levels.</a:t>
            </a:r>
            <a:endParaRPr lang="en-US" altLang="en-GB" sz="1800" dirty="0"/>
          </a:p>
          <a:p>
            <a:endParaRPr lang="en-US" alt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 dirty="0">
                <a:sym typeface="+mn-ea"/>
              </a:rPr>
              <a:t>Frequency of different RAM and storage configurations was studied.</a:t>
            </a:r>
            <a:endParaRPr lang="en-US" altLang="en-GB" sz="1800" dirty="0"/>
          </a:p>
          <a:p>
            <a:endParaRPr lang="en-US" alt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 dirty="0">
                <a:sym typeface="+mn-ea"/>
              </a:rPr>
              <a:t>Brand distribution was analyzed to identify the most common smartphone brands in the dataset.</a:t>
            </a:r>
            <a:endParaRPr lang="en-US" altLang="en-GB" sz="1800" dirty="0"/>
          </a:p>
          <a:p>
            <a:endParaRPr lang="en-US" alt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 dirty="0">
                <a:sym typeface="+mn-ea"/>
              </a:rPr>
              <a:t>Histograms and bar charts were used to visualize these distributions.</a:t>
            </a:r>
            <a:endParaRPr lang="en-GB" alt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97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07 202414">
            <a:extLst>
              <a:ext uri="{FF2B5EF4-FFF2-40B4-BE49-F238E27FC236}">
                <a16:creationId xmlns:a16="http://schemas.microsoft.com/office/drawing/2014/main" id="{AF6106BC-237E-6C8D-2FE4-0B1B072FE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2" y="245823"/>
            <a:ext cx="5675647" cy="44128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965FB4-B552-0352-541D-384D627AD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583" y="245823"/>
            <a:ext cx="5447535" cy="4412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8FE22A-46D2-F0A6-320C-1CFCC09C719D}"/>
              </a:ext>
            </a:extLst>
          </p:cNvPr>
          <p:cNvSpPr txBox="1"/>
          <p:nvPr/>
        </p:nvSpPr>
        <p:spPr>
          <a:xfrm>
            <a:off x="658317" y="4795934"/>
            <a:ext cx="107302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  <a:endParaRPr lang="en-US" sz="1600" dirty="0"/>
          </a:p>
          <a:p>
            <a:r>
              <a:rPr lang="en-US" sz="1600" dirty="0"/>
              <a:t>- The distribution of mobile phone prices is right-skewed, indicating that most phones are affordable while only a few belong to the premium price segment.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25AE3-4BBD-CD96-2351-A56BF2A6407D}"/>
              </a:ext>
            </a:extLst>
          </p:cNvPr>
          <p:cNvSpPr txBox="1"/>
          <p:nvPr/>
        </p:nvSpPr>
        <p:spPr>
          <a:xfrm>
            <a:off x="658317" y="5764238"/>
            <a:ext cx="10412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sz="1600" dirty="0"/>
              <a:t>Most mobile prices lie within a certain range, while a few high-priced phones appear as outliers in the dataset.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6663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16C092-308D-B804-BB27-8961036A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86" y="386021"/>
            <a:ext cx="6543600" cy="41579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74D59B-0561-C785-78A5-F95A5A5B2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389" y="386021"/>
            <a:ext cx="5068625" cy="4157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A14762-7DC5-A5B6-5AB8-D588A355BDB7}"/>
              </a:ext>
            </a:extLst>
          </p:cNvPr>
          <p:cNvSpPr txBox="1"/>
          <p:nvPr/>
        </p:nvSpPr>
        <p:spPr>
          <a:xfrm>
            <a:off x="559837" y="4618654"/>
            <a:ext cx="11252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</a:t>
            </a:r>
          </a:p>
          <a:p>
            <a:r>
              <a:rPr lang="en-US" sz="1600" dirty="0"/>
              <a:t>-Motorola, Realme and poco appear most frequently in the dataset, showing their strong presence in the smartphone market.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B5DF7E-32EF-393C-D3AF-A91B7B23F803}"/>
              </a:ext>
            </a:extLst>
          </p:cNvPr>
          <p:cNvSpPr txBox="1"/>
          <p:nvPr/>
        </p:nvSpPr>
        <p:spPr>
          <a:xfrm>
            <a:off x="559837" y="5524295"/>
            <a:ext cx="9937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-Motorola and Vivo appear most frequently in the </a:t>
            </a:r>
            <a:r>
              <a:rPr lang="en-US" sz="1600" dirty="0" err="1"/>
              <a:t>dataset,indicating</a:t>
            </a:r>
            <a:r>
              <a:rPr lang="en-US" sz="1600" dirty="0"/>
              <a:t> they dominate the online smartphone market.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62658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D44DFC-09F5-D17A-059F-A1A3CB92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383" y="503853"/>
            <a:ext cx="9702646" cy="4536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C89DD3-2AF4-10DE-2BE4-EE886DEBC294}"/>
              </a:ext>
            </a:extLst>
          </p:cNvPr>
          <p:cNvSpPr txBox="1"/>
          <p:nvPr/>
        </p:nvSpPr>
        <p:spPr>
          <a:xfrm>
            <a:off x="1054359" y="5402423"/>
            <a:ext cx="10552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</a:t>
            </a:r>
          </a:p>
          <a:p>
            <a:r>
              <a:rPr lang="en-US" sz="1600" dirty="0"/>
              <a:t>-Most mobile phones have ratings between 4.0 and 4.5, indicating generally positive user satisfaction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763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B033B1-3A8C-754F-54BC-25EA29CCD404}"/>
              </a:ext>
            </a:extLst>
          </p:cNvPr>
          <p:cNvSpPr txBox="1"/>
          <p:nvPr/>
        </p:nvSpPr>
        <p:spPr>
          <a:xfrm>
            <a:off x="3091543" y="205273"/>
            <a:ext cx="600891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BIVARIATE ANALYSIS STEPS</a:t>
            </a:r>
            <a:endParaRPr lang="en-US" altLang="en-GB" sz="3200" b="1" dirty="0">
              <a:solidFill>
                <a:srgbClr val="C00000"/>
              </a:solidFill>
              <a:latin typeface="Times New Roman" panose="02020603050405020304" charset="0"/>
              <a:ea typeface="Inter" panose="02000503000000020004" charset="0"/>
              <a:cs typeface="Times New Roman" panose="02020603050405020304" charset="0"/>
              <a:sym typeface="+mn-ea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C0F5D-5E27-EDD8-FF5C-52B21D5A6995}"/>
              </a:ext>
            </a:extLst>
          </p:cNvPr>
          <p:cNvSpPr txBox="1"/>
          <p:nvPr/>
        </p:nvSpPr>
        <p:spPr>
          <a:xfrm>
            <a:off x="914400" y="1119673"/>
            <a:ext cx="99744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sym typeface="+mn-ea"/>
              </a:rPr>
              <a:t>Bivariate analysis was performed to study relationships between two variables.</a:t>
            </a:r>
            <a:endParaRPr lang="en-US" altLang="en-GB" sz="2000" dirty="0"/>
          </a:p>
          <a:p>
            <a:endParaRPr lang="en-US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sym typeface="+mn-ea"/>
              </a:rPr>
              <a:t>The relationship between smartphone price and customer rating was analyzed.</a:t>
            </a:r>
            <a:endParaRPr lang="en-US" altLang="en-GB" sz="2000" dirty="0"/>
          </a:p>
          <a:p>
            <a:endParaRPr lang="en-US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sym typeface="+mn-ea"/>
              </a:rPr>
              <a:t>Price variations among different smartphone brands were examined.</a:t>
            </a:r>
            <a:endParaRPr lang="en-US" altLang="en-GB" sz="2000" dirty="0"/>
          </a:p>
          <a:p>
            <a:endParaRPr lang="en-US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sym typeface="+mn-ea"/>
              </a:rPr>
              <a:t>The influence of RAM size on smartphone price was analyzed.</a:t>
            </a:r>
            <a:endParaRPr lang="en-US" altLang="en-GB" sz="2000" dirty="0"/>
          </a:p>
          <a:p>
            <a:endParaRPr lang="en-US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sym typeface="+mn-ea"/>
              </a:rPr>
              <a:t>Visualizations such as scatter plots and bar charts were used to identify patterns.</a:t>
            </a:r>
            <a:endParaRPr lang="en-US" altLang="en-GB" sz="2000" dirty="0"/>
          </a:p>
          <a:p>
            <a:endParaRPr lang="en-US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>
                <a:sym typeface="+mn-ea"/>
              </a:rPr>
              <a:t>This analysis helps understand how product features influence pricing and ratings.</a:t>
            </a:r>
            <a:endParaRPr lang="en-US" altLang="en-GB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78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3343A2-ACB9-F554-325E-FE568CFE8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97" y="484377"/>
            <a:ext cx="5680003" cy="42835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796C24-E27F-1E6A-44CC-7C67FEB3B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51" y="484376"/>
            <a:ext cx="5438103" cy="4283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80C674-A9B2-034F-CB64-1735BC912B2F}"/>
              </a:ext>
            </a:extLst>
          </p:cNvPr>
          <p:cNvSpPr txBox="1"/>
          <p:nvPr/>
        </p:nvSpPr>
        <p:spPr>
          <a:xfrm>
            <a:off x="662473" y="5062762"/>
            <a:ext cx="106835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r>
              <a:rPr lang="en-US" dirty="0"/>
              <a:t>-Higher-priced phones generally maintain good ratings, but many mid-range phones also receive strong ratings.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25A0-D8D3-A293-8049-60824FC49416}"/>
              </a:ext>
            </a:extLst>
          </p:cNvPr>
          <p:cNvSpPr txBox="1"/>
          <p:nvPr/>
        </p:nvSpPr>
        <p:spPr>
          <a:xfrm>
            <a:off x="662473" y="5616762"/>
            <a:ext cx="9470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-Phones with higher storage capacity generally tend to have higher prices compared to phones with lower storage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325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4FA4ED-584D-E12E-6049-CCA6C4C56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79" y="405122"/>
            <a:ext cx="5608806" cy="42228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B040BC-5E83-7891-1DE9-963EA8DAC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18" y="405121"/>
            <a:ext cx="5386948" cy="44374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F3EE8F-BEE6-A25E-7FCC-97D9C929F739}"/>
              </a:ext>
            </a:extLst>
          </p:cNvPr>
          <p:cNvSpPr txBox="1"/>
          <p:nvPr/>
        </p:nvSpPr>
        <p:spPr>
          <a:xfrm>
            <a:off x="420955" y="5054164"/>
            <a:ext cx="11280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Observation</a:t>
            </a:r>
          </a:p>
          <a:p>
            <a:r>
              <a:rPr lang="en-US" sz="1600" dirty="0"/>
              <a:t>-Smartphones with higher RAM generally have higher prices, indicating RAM is a major factor affecting price.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5A955-33CA-2A8C-7898-C61880BD142D}"/>
              </a:ext>
            </a:extLst>
          </p:cNvPr>
          <p:cNvSpPr txBox="1"/>
          <p:nvPr/>
        </p:nvSpPr>
        <p:spPr>
          <a:xfrm>
            <a:off x="420955" y="5477070"/>
            <a:ext cx="110718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1600" dirty="0"/>
              <a:t>-Premium brands like Apple and Samsung have higher average prices while other brands focus on budget and mid-range smartphones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624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D3C17-F4DA-0AFC-0D6B-F4397AB14271}"/>
              </a:ext>
            </a:extLst>
          </p:cNvPr>
          <p:cNvSpPr txBox="1"/>
          <p:nvPr/>
        </p:nvSpPr>
        <p:spPr>
          <a:xfrm>
            <a:off x="699796" y="401216"/>
            <a:ext cx="85095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solidFill>
                  <a:srgbClr val="C00000"/>
                </a:solidFill>
                <a:sym typeface="+mn-ea"/>
              </a:rPr>
              <a:t>MULTIVARIATE ANALYSIS STEPS</a:t>
            </a:r>
            <a:endParaRPr lang="en-US" altLang="en-GB" sz="2800" b="1" dirty="0">
              <a:solidFill>
                <a:srgbClr val="C00000"/>
              </a:solidFill>
              <a:latin typeface="Inter Black" panose="02000503000000020004" charset="0"/>
              <a:ea typeface="Inter" panose="02000503000000020004" charset="0"/>
              <a:cs typeface="Inter Black" panose="02000503000000020004" charset="0"/>
              <a:sym typeface="+mn-ea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E7EE9-B410-EE08-3566-16239528EE37}"/>
              </a:ext>
            </a:extLst>
          </p:cNvPr>
          <p:cNvSpPr txBox="1"/>
          <p:nvPr/>
        </p:nvSpPr>
        <p:spPr>
          <a:xfrm>
            <a:off x="699796" y="1352940"/>
            <a:ext cx="9647853" cy="4867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50000"/>
              </a:lnSpc>
              <a:spcAft>
                <a:spcPts val="10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altLang="en-GB" sz="1600" dirty="0">
                <a:sym typeface="+mn-ea"/>
              </a:rPr>
              <a:t>Multivariate analysis was performed to study the relationship between more than two variables simultaneously.</a:t>
            </a:r>
            <a:endParaRPr lang="en-US" alt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Key variables considered for this analysis include Price, Rating, Brand, RAM, Storage, and Screen Size.</a:t>
            </a:r>
            <a:endParaRPr lang="en-US" alt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Grouped analysis was used to compare average price across different brands and RAM configurations.</a:t>
            </a:r>
            <a:endParaRPr lang="en-US" alt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A heatmap and grouped visualizations were used to identify correlations between numerical variables such as price, rating, and screen size.</a:t>
            </a:r>
            <a:endParaRPr lang="en-US" alt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This analysis helped understand how multiple specifications together influence smartphone pricing and customer ratings.</a:t>
            </a:r>
            <a:endParaRPr lang="en-US" alt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Multivariate insights provide a deeper understanding of market patterns compared to simple univariate or bivariate analysis.</a:t>
            </a:r>
            <a:endParaRPr lang="en-US" altLang="en-GB" sz="1600" dirty="0">
              <a:solidFill>
                <a:schemeClr val="bg1">
                  <a:lumMod val="95000"/>
                </a:schemeClr>
              </a:solidFill>
              <a:latin typeface="Inter" panose="02000503000000020004" charset="0"/>
              <a:ea typeface="Inter" panose="02000503000000020004" charset="0"/>
              <a:cs typeface="Inter" panose="02000503000000020004" charset="0"/>
              <a:sym typeface="+mn-e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920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E5A1AD-BCE2-4BCC-5A08-A0A335388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79" y="279919"/>
            <a:ext cx="10278747" cy="2808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F5CC50-3C74-7B04-14C7-9E9B04739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" y="3190872"/>
            <a:ext cx="10400677" cy="281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65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9E1161-0804-AF27-E666-180938D2D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595" y="77218"/>
            <a:ext cx="4724809" cy="42148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8FBE70-24B2-51BD-4792-E21511E5BAA4}"/>
              </a:ext>
            </a:extLst>
          </p:cNvPr>
          <p:cNvSpPr txBox="1"/>
          <p:nvPr/>
        </p:nvSpPr>
        <p:spPr>
          <a:xfrm rot="10800000" flipH="1" flipV="1">
            <a:off x="1065858" y="4400017"/>
            <a:ext cx="10060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</a:t>
            </a:r>
          </a:p>
          <a:p>
            <a:r>
              <a:rPr lang="en-US" sz="1600" dirty="0"/>
              <a:t>- Correlation helps understand relationships between variables.</a:t>
            </a:r>
          </a:p>
          <a:p>
            <a:r>
              <a:rPr lang="en-US" sz="1600" dirty="0"/>
              <a:t>- High correlation between original price and discounted price indicates that expensive phones maintain      higher discounted prices.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82084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A78B0-E480-3679-F3EB-0983184838F5}"/>
              </a:ext>
            </a:extLst>
          </p:cNvPr>
          <p:cNvSpPr txBox="1"/>
          <p:nvPr/>
        </p:nvSpPr>
        <p:spPr>
          <a:xfrm>
            <a:off x="783771" y="578498"/>
            <a:ext cx="48705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DF554-0BAC-DEC4-04F8-AB308AD4FCEC}"/>
              </a:ext>
            </a:extLst>
          </p:cNvPr>
          <p:cNvSpPr txBox="1"/>
          <p:nvPr/>
        </p:nvSpPr>
        <p:spPr>
          <a:xfrm>
            <a:off x="718457" y="1317161"/>
            <a:ext cx="101143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 sz="1800" dirty="0">
                <a:sym typeface="+mn-ea"/>
              </a:rPr>
              <a:t>The majority of smartphones fall within the mid-range price segment.</a:t>
            </a:r>
            <a:endParaRPr lang="en-US" altLang="en-GB" sz="1800" dirty="0"/>
          </a:p>
          <a:p>
            <a:pPr fontAlgn="ctr"/>
            <a:endParaRPr lang="en-US" altLang="en-GB" sz="1800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 sz="1800" dirty="0">
                <a:sym typeface="+mn-ea"/>
              </a:rPr>
              <a:t>Customer ratings are generally high, with most phones rated above 4.2.</a:t>
            </a:r>
            <a:endParaRPr lang="en-US" altLang="en-GB" sz="1800" dirty="0"/>
          </a:p>
          <a:p>
            <a:pPr fontAlgn="ctr"/>
            <a:endParaRPr lang="en-US" altLang="en-GB" sz="1800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 sz="1800" dirty="0">
                <a:sym typeface="+mn-ea"/>
              </a:rPr>
              <a:t>8 GB RAM and 128 GB storage are the most commonly available configurations.</a:t>
            </a:r>
            <a:endParaRPr lang="en-US" altLang="en-GB" sz="1800" dirty="0"/>
          </a:p>
          <a:p>
            <a:pPr fontAlgn="ctr"/>
            <a:endParaRPr lang="en-US" altLang="en-GB" sz="1800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 sz="1800" dirty="0">
                <a:sym typeface="+mn-ea"/>
              </a:rPr>
              <a:t>Certain brands dominate the dataset, indicating strong market presence.</a:t>
            </a:r>
            <a:endParaRPr lang="en-US" altLang="en-GB" sz="1800" dirty="0"/>
          </a:p>
          <a:p>
            <a:pPr fontAlgn="ctr"/>
            <a:endParaRPr lang="en-US" altLang="en-GB" sz="1800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 sz="1800" dirty="0">
                <a:sym typeface="+mn-ea"/>
              </a:rPr>
              <a:t>Higher prices often correspond to better specifications but not always higher ratings.</a:t>
            </a:r>
            <a:endParaRPr lang="en-US" altLang="en-GB" sz="1800" dirty="0"/>
          </a:p>
          <a:p>
            <a:pPr fontAlgn="ctr"/>
            <a:endParaRPr lang="en-US" altLang="en-GB" sz="1800" dirty="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 sz="1800" dirty="0">
                <a:sym typeface="+mn-ea"/>
              </a:rPr>
              <a:t>Data analysis provides valuable insights into smartphone market trends.</a:t>
            </a:r>
            <a:endParaRPr lang="en-US" altLang="en-GB" sz="1800" b="1" dirty="0">
              <a:solidFill>
                <a:schemeClr val="bg1"/>
              </a:solidFill>
              <a:latin typeface="Inter Black" panose="02000503000000020004" charset="0"/>
              <a:ea typeface="Inter" panose="02000503000000020004" charset="0"/>
              <a:cs typeface="Inter Black" panose="02000503000000020004" charset="0"/>
              <a:sym typeface="+mn-e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572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47D327-4C89-F23B-08A2-092205D009A0}"/>
              </a:ext>
            </a:extLst>
          </p:cNvPr>
          <p:cNvSpPr txBox="1"/>
          <p:nvPr/>
        </p:nvSpPr>
        <p:spPr>
          <a:xfrm>
            <a:off x="998376" y="718457"/>
            <a:ext cx="1006773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KEY INSIGHTS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sz="1600" dirty="0"/>
              <a:t>Budget phones dominate the dataset.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dirty="0"/>
              <a:t>2. Higher RAM phones generally have higher prices.</a:t>
            </a:r>
          </a:p>
          <a:p>
            <a:endParaRPr lang="en-US" sz="1600" dirty="0"/>
          </a:p>
          <a:p>
            <a:r>
              <a:rPr lang="en-US" sz="1600" dirty="0"/>
              <a:t>3. Ratings are mostly clustered around 4 – 4.5.</a:t>
            </a:r>
          </a:p>
          <a:p>
            <a:endParaRPr lang="en-US" sz="1600" dirty="0"/>
          </a:p>
          <a:p>
            <a:r>
              <a:rPr lang="en-US" sz="1600" dirty="0"/>
              <a:t>4. Popular brands include Samsung, Vivo, Realme.</a:t>
            </a: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05C1B-5392-9E1D-9122-760BAFD2C58A}"/>
              </a:ext>
            </a:extLst>
          </p:cNvPr>
          <p:cNvSpPr txBox="1"/>
          <p:nvPr/>
        </p:nvSpPr>
        <p:spPr>
          <a:xfrm>
            <a:off x="998376" y="3429000"/>
            <a:ext cx="105435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BUSINESS INSIGHT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 - </a:t>
            </a:r>
            <a:r>
              <a:rPr lang="en-US" sz="1600" dirty="0"/>
              <a:t>Companies should focus on mid-range smartphones </a:t>
            </a:r>
            <a:r>
              <a:rPr lang="en-US" sz="1600" dirty="0" err="1"/>
              <a:t>withgood</a:t>
            </a:r>
            <a:r>
              <a:rPr lang="en-US" sz="1600" dirty="0"/>
              <a:t> RAM and storage as they dominate the market and receive strong customer ratings.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18474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3113882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EB7140-1537-084C-3DEC-BD0481CECCEF}"/>
              </a:ext>
            </a:extLst>
          </p:cNvPr>
          <p:cNvSpPr txBox="1"/>
          <p:nvPr/>
        </p:nvSpPr>
        <p:spPr>
          <a:xfrm>
            <a:off x="3198067" y="1031099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 dirty="0">
                <a:solidFill>
                  <a:srgbClr val="C0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1029</Words>
  <Application>Microsoft Office PowerPoint</Application>
  <PresentationFormat>Widescreen</PresentationFormat>
  <Paragraphs>120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Times New Roman</vt:lpstr>
      <vt:lpstr>Calibri</vt:lpstr>
      <vt:lpstr>Arial</vt:lpstr>
      <vt:lpstr>Arial Black</vt:lpstr>
      <vt:lpstr>Inter</vt:lpstr>
      <vt:lpstr>Wingdings</vt:lpstr>
      <vt:lpstr>Inter Black</vt:lpstr>
      <vt:lpstr>Office Theme</vt:lpstr>
      <vt:lpstr>PowerPoint Presentation</vt:lpstr>
      <vt:lpstr>ABSTRACT</vt:lpstr>
      <vt:lpstr>PowerPoint Presentation</vt:lpstr>
      <vt:lpstr> </vt:lpstr>
      <vt:lpstr>PowerPoint Presentation</vt:lpstr>
      <vt:lpstr>PowerPoint Presentation</vt:lpstr>
      <vt:lpstr>PowerPoint Presentation</vt:lpstr>
      <vt:lpstr>UNIVARIATE ANALYSIS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mohammadkaifshaik09@gmail.com</cp:lastModifiedBy>
  <cp:revision>5</cp:revision>
  <dcterms:created xsi:type="dcterms:W3CDTF">2021-02-16T05:19:01Z</dcterms:created>
  <dcterms:modified xsi:type="dcterms:W3CDTF">2026-03-10T11:33:45Z</dcterms:modified>
</cp:coreProperties>
</file>